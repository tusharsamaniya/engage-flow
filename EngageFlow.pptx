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Montserrat" panose="00000500000000000000" pitchFamily="2" charset="0"/>
      <p:regular r:id="rId11"/>
    </p:embeddedFont>
    <p:embeddedFont>
      <p:font typeface="Montserrat Bold" panose="020B0604020202020204" charset="0"/>
      <p:regular r:id="rId12"/>
    </p:embeddedFont>
    <p:embeddedFont>
      <p:font typeface="Montserrat Medium" panose="00000600000000000000" pitchFamily="2" charset="0"/>
      <p:regular r:id="rId13"/>
    </p:embeddedFont>
    <p:embeddedFont>
      <p:font typeface="Montserrat Ultra-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1085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624229"/>
            <a:ext cx="5132756" cy="840814"/>
            <a:chOff x="0" y="0"/>
            <a:chExt cx="1351837" cy="2214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51837" cy="221449"/>
            </a:xfrm>
            <a:custGeom>
              <a:avLst/>
              <a:gdLst/>
              <a:ahLst/>
              <a:cxnLst/>
              <a:rect l="l" t="t" r="r" b="b"/>
              <a:pathLst>
                <a:path w="1351837" h="221449">
                  <a:moveTo>
                    <a:pt x="76925" y="0"/>
                  </a:moveTo>
                  <a:lnTo>
                    <a:pt x="1274912" y="0"/>
                  </a:lnTo>
                  <a:cubicBezTo>
                    <a:pt x="1295314" y="0"/>
                    <a:pt x="1314880" y="8105"/>
                    <a:pt x="1329306" y="22531"/>
                  </a:cubicBezTo>
                  <a:cubicBezTo>
                    <a:pt x="1343732" y="36957"/>
                    <a:pt x="1351837" y="56523"/>
                    <a:pt x="1351837" y="76925"/>
                  </a:cubicBezTo>
                  <a:lnTo>
                    <a:pt x="1351837" y="144524"/>
                  </a:lnTo>
                  <a:cubicBezTo>
                    <a:pt x="1351837" y="164926"/>
                    <a:pt x="1343732" y="184492"/>
                    <a:pt x="1329306" y="198918"/>
                  </a:cubicBezTo>
                  <a:cubicBezTo>
                    <a:pt x="1314880" y="213344"/>
                    <a:pt x="1295314" y="221449"/>
                    <a:pt x="1274912" y="221449"/>
                  </a:cubicBezTo>
                  <a:lnTo>
                    <a:pt x="76925" y="221449"/>
                  </a:lnTo>
                  <a:cubicBezTo>
                    <a:pt x="56523" y="221449"/>
                    <a:pt x="36957" y="213344"/>
                    <a:pt x="22531" y="198918"/>
                  </a:cubicBezTo>
                  <a:cubicBezTo>
                    <a:pt x="8105" y="184492"/>
                    <a:pt x="0" y="164926"/>
                    <a:pt x="0" y="144524"/>
                  </a:cubicBezTo>
                  <a:lnTo>
                    <a:pt x="0" y="76925"/>
                  </a:lnTo>
                  <a:cubicBezTo>
                    <a:pt x="0" y="56523"/>
                    <a:pt x="8105" y="36957"/>
                    <a:pt x="22531" y="22531"/>
                  </a:cubicBezTo>
                  <a:cubicBezTo>
                    <a:pt x="36957" y="8105"/>
                    <a:pt x="56523" y="0"/>
                    <a:pt x="7692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51837" cy="2595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968707" y="1784701"/>
            <a:ext cx="12452287" cy="12452287"/>
          </a:xfrm>
          <a:custGeom>
            <a:avLst/>
            <a:gdLst/>
            <a:ahLst/>
            <a:cxnLst/>
            <a:rect l="l" t="t" r="r" b="b"/>
            <a:pathLst>
              <a:path w="12452287" h="12452287">
                <a:moveTo>
                  <a:pt x="0" y="0"/>
                </a:moveTo>
                <a:lnTo>
                  <a:pt x="12452287" y="0"/>
                </a:lnTo>
                <a:lnTo>
                  <a:pt x="12452287" y="12452286"/>
                </a:lnTo>
                <a:lnTo>
                  <a:pt x="0" y="12452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423170" y="2560036"/>
            <a:ext cx="9543361" cy="7200900"/>
          </a:xfrm>
          <a:custGeom>
            <a:avLst/>
            <a:gdLst/>
            <a:ahLst/>
            <a:cxnLst/>
            <a:rect l="l" t="t" r="r" b="b"/>
            <a:pathLst>
              <a:path w="9543361" h="7200900">
                <a:moveTo>
                  <a:pt x="0" y="0"/>
                </a:moveTo>
                <a:lnTo>
                  <a:pt x="9543361" y="0"/>
                </a:lnTo>
                <a:lnTo>
                  <a:pt x="9543361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4783807" y="7493868"/>
            <a:ext cx="9567614" cy="956761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508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311940" y="-2923420"/>
            <a:ext cx="3952120" cy="395212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508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513081" y="4676336"/>
            <a:ext cx="4353780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2450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64369" y="1222726"/>
            <a:ext cx="9213917" cy="1741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79"/>
              </a:lnSpc>
            </a:pPr>
            <a:r>
              <a:rPr lang="en-US" sz="10200" b="1">
                <a:solidFill>
                  <a:srgbClr val="24508C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ENGAGE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64369" y="2617820"/>
            <a:ext cx="4697087" cy="1741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79"/>
              </a:lnSpc>
            </a:pPr>
            <a:r>
              <a:rPr lang="en-US" sz="10200" b="1">
                <a:solidFill>
                  <a:srgbClr val="24508C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FLOW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464369" y="7170135"/>
            <a:ext cx="2088165" cy="2088165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15863" y="3814124"/>
            <a:ext cx="10233664" cy="10233664"/>
          </a:xfrm>
          <a:custGeom>
            <a:avLst/>
            <a:gdLst/>
            <a:ahLst/>
            <a:cxnLst/>
            <a:rect l="l" t="t" r="r" b="b"/>
            <a:pathLst>
              <a:path w="10233664" h="10233664">
                <a:moveTo>
                  <a:pt x="0" y="0"/>
                </a:moveTo>
                <a:lnTo>
                  <a:pt x="10233664" y="0"/>
                </a:lnTo>
                <a:lnTo>
                  <a:pt x="10233664" y="10233664"/>
                </a:lnTo>
                <a:lnTo>
                  <a:pt x="0" y="102336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935992" y="1748476"/>
            <a:ext cx="7393405" cy="6321361"/>
          </a:xfrm>
          <a:custGeom>
            <a:avLst/>
            <a:gdLst/>
            <a:ahLst/>
            <a:cxnLst/>
            <a:rect l="l" t="t" r="r" b="b"/>
            <a:pathLst>
              <a:path w="7393405" h="6321361">
                <a:moveTo>
                  <a:pt x="0" y="0"/>
                </a:moveTo>
                <a:lnTo>
                  <a:pt x="7393405" y="0"/>
                </a:lnTo>
                <a:lnTo>
                  <a:pt x="7393405" y="6321361"/>
                </a:lnTo>
                <a:lnTo>
                  <a:pt x="0" y="63213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64369" y="2019300"/>
            <a:ext cx="5882145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1">
                <a:solidFill>
                  <a:srgbClr val="24508C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OVERVIEW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2577" y="3342180"/>
            <a:ext cx="7953286" cy="424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1">
                <a:solidFill>
                  <a:srgbClr val="2450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EngageFlow is a marketing automation platform designed to help organizations like colleges, schools, and companies generate high-quality leads, engage potential customers through automated calls and WhatsApp, and convert them into clients.</a:t>
            </a:r>
          </a:p>
          <a:p>
            <a:pPr algn="just">
              <a:lnSpc>
                <a:spcPts val="4200"/>
              </a:lnSpc>
            </a:pPr>
            <a:endParaRPr lang="en-US" sz="3000" b="1">
              <a:solidFill>
                <a:srgbClr val="2450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-4783807" y="7493868"/>
            <a:ext cx="9567614" cy="956761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508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311940" y="-2923420"/>
            <a:ext cx="3952120" cy="395212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508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64369" y="7170135"/>
            <a:ext cx="2088165" cy="208816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464340" y="-2771020"/>
            <a:ext cx="3952120" cy="395212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508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180706"/>
            <a:ext cx="7974049" cy="3197536"/>
            <a:chOff x="0" y="0"/>
            <a:chExt cx="2100161" cy="8421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0161" cy="842149"/>
            </a:xfrm>
            <a:custGeom>
              <a:avLst/>
              <a:gdLst/>
              <a:ahLst/>
              <a:cxnLst/>
              <a:rect l="l" t="t" r="r" b="b"/>
              <a:pathLst>
                <a:path w="2100161" h="842149">
                  <a:moveTo>
                    <a:pt x="49515" y="0"/>
                  </a:moveTo>
                  <a:lnTo>
                    <a:pt x="2050646" y="0"/>
                  </a:lnTo>
                  <a:cubicBezTo>
                    <a:pt x="2077992" y="0"/>
                    <a:pt x="2100161" y="22169"/>
                    <a:pt x="2100161" y="49515"/>
                  </a:cubicBezTo>
                  <a:lnTo>
                    <a:pt x="2100161" y="792634"/>
                  </a:lnTo>
                  <a:cubicBezTo>
                    <a:pt x="2100161" y="805766"/>
                    <a:pt x="2094944" y="818361"/>
                    <a:pt x="2085658" y="827647"/>
                  </a:cubicBezTo>
                  <a:cubicBezTo>
                    <a:pt x="2076372" y="836933"/>
                    <a:pt x="2063778" y="842149"/>
                    <a:pt x="2050646" y="842149"/>
                  </a:cubicBezTo>
                  <a:lnTo>
                    <a:pt x="49515" y="842149"/>
                  </a:lnTo>
                  <a:cubicBezTo>
                    <a:pt x="36383" y="842149"/>
                    <a:pt x="23789" y="836933"/>
                    <a:pt x="14503" y="827647"/>
                  </a:cubicBezTo>
                  <a:cubicBezTo>
                    <a:pt x="5217" y="818361"/>
                    <a:pt x="0" y="805766"/>
                    <a:pt x="0" y="792634"/>
                  </a:cubicBezTo>
                  <a:lnTo>
                    <a:pt x="0" y="49515"/>
                  </a:lnTo>
                  <a:cubicBezTo>
                    <a:pt x="0" y="36383"/>
                    <a:pt x="5217" y="23789"/>
                    <a:pt x="14503" y="14503"/>
                  </a:cubicBezTo>
                  <a:cubicBezTo>
                    <a:pt x="23789" y="5217"/>
                    <a:pt x="36383" y="0"/>
                    <a:pt x="49515" y="0"/>
                  </a:cubicBezTo>
                  <a:close/>
                </a:path>
              </a:pathLst>
            </a:custGeom>
            <a:solidFill>
              <a:srgbClr val="24508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00161" cy="8802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694581" y="2608649"/>
            <a:ext cx="10233664" cy="10233664"/>
          </a:xfrm>
          <a:custGeom>
            <a:avLst/>
            <a:gdLst/>
            <a:ahLst/>
            <a:cxnLst/>
            <a:rect l="l" t="t" r="r" b="b"/>
            <a:pathLst>
              <a:path w="10233664" h="10233664">
                <a:moveTo>
                  <a:pt x="0" y="0"/>
                </a:moveTo>
                <a:lnTo>
                  <a:pt x="10233664" y="0"/>
                </a:lnTo>
                <a:lnTo>
                  <a:pt x="10233664" y="10233664"/>
                </a:lnTo>
                <a:lnTo>
                  <a:pt x="0" y="102336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694581" y="2770934"/>
            <a:ext cx="8157169" cy="6607307"/>
          </a:xfrm>
          <a:custGeom>
            <a:avLst/>
            <a:gdLst/>
            <a:ahLst/>
            <a:cxnLst/>
            <a:rect l="l" t="t" r="r" b="b"/>
            <a:pathLst>
              <a:path w="8157169" h="6607307">
                <a:moveTo>
                  <a:pt x="0" y="0"/>
                </a:moveTo>
                <a:lnTo>
                  <a:pt x="8157170" y="0"/>
                </a:lnTo>
                <a:lnTo>
                  <a:pt x="8157170" y="6607308"/>
                </a:lnTo>
                <a:lnTo>
                  <a:pt x="0" y="66073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84036" y="1043867"/>
            <a:ext cx="12890947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1">
                <a:solidFill>
                  <a:srgbClr val="24508C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THE MARKETING CHALLENGES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84036" y="2369495"/>
            <a:ext cx="7026894" cy="424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1">
                <a:solidFill>
                  <a:srgbClr val="2450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Organizations struggle with:</a:t>
            </a:r>
          </a:p>
          <a:p>
            <a:pPr algn="just">
              <a:lnSpc>
                <a:spcPts val="4200"/>
              </a:lnSpc>
            </a:pPr>
            <a:r>
              <a:rPr lang="en-US" sz="3000" b="1">
                <a:solidFill>
                  <a:srgbClr val="2450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1. Engaging potential customers effectively.</a:t>
            </a:r>
          </a:p>
          <a:p>
            <a:pPr algn="just">
              <a:lnSpc>
                <a:spcPts val="4200"/>
              </a:lnSpc>
            </a:pPr>
            <a:endParaRPr lang="en-US" sz="3000" b="1">
              <a:solidFill>
                <a:srgbClr val="2450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just">
              <a:lnSpc>
                <a:spcPts val="4200"/>
              </a:lnSpc>
            </a:pPr>
            <a:r>
              <a:rPr lang="en-US" sz="3000" b="1">
                <a:solidFill>
                  <a:srgbClr val="2450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2. Converting leads into clients due to manual processing</a:t>
            </a:r>
          </a:p>
          <a:p>
            <a:pPr algn="just">
              <a:lnSpc>
                <a:spcPts val="4200"/>
              </a:lnSpc>
            </a:pPr>
            <a:endParaRPr lang="en-US" sz="3000" b="1">
              <a:solidFill>
                <a:srgbClr val="2450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just">
              <a:lnSpc>
                <a:spcPts val="4200"/>
              </a:lnSpc>
            </a:pPr>
            <a:endParaRPr lang="en-US" sz="3000" b="1">
              <a:solidFill>
                <a:srgbClr val="2450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84036" y="6738830"/>
            <a:ext cx="5028983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EXAMPLE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84036" y="7596035"/>
            <a:ext cx="7026894" cy="62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10"/>
              </a:lnSpc>
            </a:pPr>
            <a:r>
              <a:rPr lang="en-US" sz="241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Colleges spend hours calling students, but only 10% convert 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-1745719" y="9150000"/>
            <a:ext cx="3491438" cy="3122967"/>
            <a:chOff x="0" y="0"/>
            <a:chExt cx="9087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08700" cy="812800"/>
            </a:xfrm>
            <a:custGeom>
              <a:avLst/>
              <a:gdLst/>
              <a:ahLst/>
              <a:cxnLst/>
              <a:rect l="l" t="t" r="r" b="b"/>
              <a:pathLst>
                <a:path w="908700" h="812800">
                  <a:moveTo>
                    <a:pt x="454350" y="0"/>
                  </a:moveTo>
                  <a:cubicBezTo>
                    <a:pt x="203420" y="0"/>
                    <a:pt x="0" y="181951"/>
                    <a:pt x="0" y="406400"/>
                  </a:cubicBezTo>
                  <a:cubicBezTo>
                    <a:pt x="0" y="630849"/>
                    <a:pt x="203420" y="812800"/>
                    <a:pt x="454350" y="812800"/>
                  </a:cubicBezTo>
                  <a:cubicBezTo>
                    <a:pt x="705281" y="812800"/>
                    <a:pt x="908700" y="630849"/>
                    <a:pt x="908700" y="406400"/>
                  </a:cubicBezTo>
                  <a:cubicBezTo>
                    <a:pt x="908700" y="181951"/>
                    <a:pt x="705281" y="0"/>
                    <a:pt x="454350" y="0"/>
                  </a:cubicBezTo>
                  <a:close/>
                </a:path>
              </a:pathLst>
            </a:custGeom>
            <a:solidFill>
              <a:srgbClr val="24508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85191" y="38100"/>
              <a:ext cx="738319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360148" y="-2923420"/>
            <a:ext cx="4903912" cy="490391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508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360148" y="520484"/>
            <a:ext cx="2088165" cy="208816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91072" y="1655356"/>
            <a:ext cx="11677025" cy="11677025"/>
          </a:xfrm>
          <a:custGeom>
            <a:avLst/>
            <a:gdLst/>
            <a:ahLst/>
            <a:cxnLst/>
            <a:rect l="l" t="t" r="r" b="b"/>
            <a:pathLst>
              <a:path w="11677025" h="11677025">
                <a:moveTo>
                  <a:pt x="0" y="0"/>
                </a:moveTo>
                <a:lnTo>
                  <a:pt x="11677025" y="0"/>
                </a:lnTo>
                <a:lnTo>
                  <a:pt x="11677025" y="11677024"/>
                </a:lnTo>
                <a:lnTo>
                  <a:pt x="0" y="116770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86151" y="2209522"/>
            <a:ext cx="8745598" cy="6307762"/>
          </a:xfrm>
          <a:custGeom>
            <a:avLst/>
            <a:gdLst/>
            <a:ahLst/>
            <a:cxnLst/>
            <a:rect l="l" t="t" r="r" b="b"/>
            <a:pathLst>
              <a:path w="8745598" h="6307762">
                <a:moveTo>
                  <a:pt x="0" y="0"/>
                </a:moveTo>
                <a:lnTo>
                  <a:pt x="8745597" y="0"/>
                </a:lnTo>
                <a:lnTo>
                  <a:pt x="8745597" y="6307762"/>
                </a:lnTo>
                <a:lnTo>
                  <a:pt x="0" y="6307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64369" y="1795184"/>
            <a:ext cx="6126703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1">
                <a:solidFill>
                  <a:srgbClr val="24508C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OUR SOLUTION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035444"/>
            <a:ext cx="6571897" cy="424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AutoNum type="arabicPeriod"/>
            </a:pPr>
            <a:r>
              <a:rPr lang="en-US" sz="3000" b="1">
                <a:solidFill>
                  <a:srgbClr val="2450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Generates targeted leads from Google searches.</a:t>
            </a:r>
          </a:p>
          <a:p>
            <a:pPr marL="647700" lvl="1" indent="-323850" algn="just">
              <a:lnSpc>
                <a:spcPts val="4200"/>
              </a:lnSpc>
              <a:buAutoNum type="arabicPeriod"/>
            </a:pPr>
            <a:r>
              <a:rPr lang="en-US" sz="3000" b="1">
                <a:solidFill>
                  <a:srgbClr val="2450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Engages users via automated Calling or WhatsApp.</a:t>
            </a:r>
          </a:p>
          <a:p>
            <a:pPr marL="647700" lvl="1" indent="-323850" algn="just">
              <a:lnSpc>
                <a:spcPts val="4200"/>
              </a:lnSpc>
              <a:buAutoNum type="arabicPeriod"/>
            </a:pPr>
            <a:r>
              <a:rPr lang="en-US" sz="3000" b="1">
                <a:solidFill>
                  <a:srgbClr val="2450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Converts leads with personalized communication.</a:t>
            </a:r>
          </a:p>
          <a:p>
            <a:pPr algn="just">
              <a:lnSpc>
                <a:spcPts val="4200"/>
              </a:lnSpc>
            </a:pPr>
            <a:r>
              <a:rPr lang="en-US" sz="3000" b="1">
                <a:solidFill>
                  <a:srgbClr val="2450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</a:p>
          <a:p>
            <a:pPr algn="just">
              <a:lnSpc>
                <a:spcPts val="4200"/>
              </a:lnSpc>
            </a:pPr>
            <a:endParaRPr lang="en-US" sz="3000" b="1">
              <a:solidFill>
                <a:srgbClr val="2450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6464340" y="-2771020"/>
            <a:ext cx="3952120" cy="395212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508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4783807" y="7493868"/>
            <a:ext cx="9567614" cy="956761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508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64369" y="7170135"/>
            <a:ext cx="2088165" cy="208816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91072" y="2209522"/>
            <a:ext cx="11677025" cy="11677025"/>
          </a:xfrm>
          <a:custGeom>
            <a:avLst/>
            <a:gdLst/>
            <a:ahLst/>
            <a:cxnLst/>
            <a:rect l="l" t="t" r="r" b="b"/>
            <a:pathLst>
              <a:path w="11677025" h="11677025">
                <a:moveTo>
                  <a:pt x="0" y="0"/>
                </a:moveTo>
                <a:lnTo>
                  <a:pt x="11677025" y="0"/>
                </a:lnTo>
                <a:lnTo>
                  <a:pt x="11677025" y="11677025"/>
                </a:lnTo>
                <a:lnTo>
                  <a:pt x="0" y="116770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166484" y="1536951"/>
            <a:ext cx="9159491" cy="7213099"/>
          </a:xfrm>
          <a:custGeom>
            <a:avLst/>
            <a:gdLst/>
            <a:ahLst/>
            <a:cxnLst/>
            <a:rect l="l" t="t" r="r" b="b"/>
            <a:pathLst>
              <a:path w="9159491" h="7213099">
                <a:moveTo>
                  <a:pt x="0" y="0"/>
                </a:moveTo>
                <a:lnTo>
                  <a:pt x="9159491" y="0"/>
                </a:lnTo>
                <a:lnTo>
                  <a:pt x="9159491" y="7213098"/>
                </a:lnTo>
                <a:lnTo>
                  <a:pt x="0" y="72130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25287" y="2175174"/>
            <a:ext cx="7181145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1">
                <a:solidFill>
                  <a:srgbClr val="24508C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KEY FEATURES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524250"/>
            <a:ext cx="6562372" cy="318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AutoNum type="arabicPeriod"/>
            </a:pPr>
            <a:r>
              <a:rPr lang="en-US" sz="3000">
                <a:solidFill>
                  <a:srgbClr val="24508C"/>
                </a:solidFill>
                <a:latin typeface="Montserrat"/>
                <a:ea typeface="Montserrat"/>
                <a:cs typeface="Montserrat"/>
                <a:sym typeface="Montserrat"/>
              </a:rPr>
              <a:t>Personalized Content Delivery</a:t>
            </a:r>
          </a:p>
          <a:p>
            <a:pPr marL="647700" lvl="1" indent="-323850" algn="just">
              <a:lnSpc>
                <a:spcPts val="4200"/>
              </a:lnSpc>
              <a:buAutoNum type="arabicPeriod"/>
            </a:pPr>
            <a:r>
              <a:rPr lang="en-US" sz="3000">
                <a:solidFill>
                  <a:srgbClr val="24508C"/>
                </a:solidFill>
                <a:latin typeface="Montserrat"/>
                <a:ea typeface="Montserrat"/>
                <a:cs typeface="Montserrat"/>
                <a:sym typeface="Montserrat"/>
              </a:rPr>
              <a:t>Geo-Targeting</a:t>
            </a:r>
          </a:p>
          <a:p>
            <a:pPr marL="647700" lvl="1" indent="-323850" algn="just">
              <a:lnSpc>
                <a:spcPts val="4200"/>
              </a:lnSpc>
              <a:buAutoNum type="arabicPeriod"/>
            </a:pPr>
            <a:r>
              <a:rPr lang="en-US" sz="3000">
                <a:solidFill>
                  <a:srgbClr val="24508C"/>
                </a:solidFill>
                <a:latin typeface="Montserrat"/>
                <a:ea typeface="Montserrat"/>
                <a:cs typeface="Montserrat"/>
                <a:sym typeface="Montserrat"/>
              </a:rPr>
              <a:t>Analytics for Organizations</a:t>
            </a:r>
          </a:p>
          <a:p>
            <a:pPr marL="647700" lvl="1" indent="-323850" algn="just">
              <a:lnSpc>
                <a:spcPts val="4200"/>
              </a:lnSpc>
              <a:buAutoNum type="arabicPeriod"/>
            </a:pPr>
            <a:r>
              <a:rPr lang="en-US" sz="3000">
                <a:solidFill>
                  <a:srgbClr val="24508C"/>
                </a:solidFill>
                <a:latin typeface="Montserrat"/>
                <a:ea typeface="Montserrat"/>
                <a:cs typeface="Montserrat"/>
                <a:sym typeface="Montserrat"/>
              </a:rPr>
              <a:t>Voice Mode Customization</a:t>
            </a:r>
          </a:p>
          <a:p>
            <a:pPr marL="647700" lvl="1" indent="-323850" algn="just">
              <a:lnSpc>
                <a:spcPts val="4200"/>
              </a:lnSpc>
              <a:buAutoNum type="arabicPeriod"/>
            </a:pPr>
            <a:r>
              <a:rPr lang="en-US" sz="3000">
                <a:solidFill>
                  <a:srgbClr val="24508C"/>
                </a:solidFill>
                <a:latin typeface="Montserrat"/>
                <a:ea typeface="Montserrat"/>
                <a:cs typeface="Montserrat"/>
                <a:sym typeface="Montserrat"/>
              </a:rPr>
              <a:t>Gamification for Users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2450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6464340" y="-2771020"/>
            <a:ext cx="3952120" cy="395212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508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4783807" y="7493868"/>
            <a:ext cx="9567614" cy="956761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508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64369" y="7170135"/>
            <a:ext cx="2088165" cy="208816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41668" y="4140496"/>
            <a:ext cx="11677025" cy="11677025"/>
          </a:xfrm>
          <a:custGeom>
            <a:avLst/>
            <a:gdLst/>
            <a:ahLst/>
            <a:cxnLst/>
            <a:rect l="l" t="t" r="r" b="b"/>
            <a:pathLst>
              <a:path w="11677025" h="11677025">
                <a:moveTo>
                  <a:pt x="0" y="0"/>
                </a:moveTo>
                <a:lnTo>
                  <a:pt x="11677025" y="0"/>
                </a:lnTo>
                <a:lnTo>
                  <a:pt x="11677025" y="11677024"/>
                </a:lnTo>
                <a:lnTo>
                  <a:pt x="0" y="116770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60033" y="1028700"/>
            <a:ext cx="8999267" cy="7608472"/>
          </a:xfrm>
          <a:custGeom>
            <a:avLst/>
            <a:gdLst/>
            <a:ahLst/>
            <a:cxnLst/>
            <a:rect l="l" t="t" r="r" b="b"/>
            <a:pathLst>
              <a:path w="8999267" h="7608472">
                <a:moveTo>
                  <a:pt x="0" y="0"/>
                </a:moveTo>
                <a:lnTo>
                  <a:pt x="8999267" y="0"/>
                </a:lnTo>
                <a:lnTo>
                  <a:pt x="8999267" y="7608472"/>
                </a:lnTo>
                <a:lnTo>
                  <a:pt x="0" y="76084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34812" y="1565747"/>
            <a:ext cx="5821926" cy="190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1">
                <a:solidFill>
                  <a:srgbClr val="24508C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BENEFITES FOR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083346"/>
            <a:ext cx="6428038" cy="264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AutoNum type="arabicPeriod"/>
            </a:pPr>
            <a:r>
              <a:rPr lang="en-US" sz="3000" b="1" dirty="0" err="1">
                <a:solidFill>
                  <a:srgbClr val="2450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Organisation</a:t>
            </a:r>
            <a:r>
              <a:rPr lang="en-US" sz="3000" b="1" dirty="0">
                <a:solidFill>
                  <a:srgbClr val="2450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like Colleges, Schools, NGOs, Companies etc.</a:t>
            </a:r>
          </a:p>
          <a:p>
            <a:pPr marL="647700" lvl="1" indent="-323850" algn="just">
              <a:lnSpc>
                <a:spcPts val="4200"/>
              </a:lnSpc>
              <a:buAutoNum type="arabicPeriod"/>
            </a:pPr>
            <a:r>
              <a:rPr lang="en-US" sz="3000" b="1" dirty="0">
                <a:solidFill>
                  <a:srgbClr val="2450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Users for getting organization easily and quickly.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880181" y="-2434810"/>
            <a:ext cx="3952120" cy="395212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508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4565229" y="6991350"/>
            <a:ext cx="9567614" cy="956761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508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053728" y="6894053"/>
            <a:ext cx="2088165" cy="208816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19398" y="2279949"/>
            <a:ext cx="11677025" cy="11677025"/>
          </a:xfrm>
          <a:custGeom>
            <a:avLst/>
            <a:gdLst/>
            <a:ahLst/>
            <a:cxnLst/>
            <a:rect l="l" t="t" r="r" b="b"/>
            <a:pathLst>
              <a:path w="11677025" h="11677025">
                <a:moveTo>
                  <a:pt x="0" y="0"/>
                </a:moveTo>
                <a:lnTo>
                  <a:pt x="11677024" y="0"/>
                </a:lnTo>
                <a:lnTo>
                  <a:pt x="11677024" y="11677025"/>
                </a:lnTo>
                <a:lnTo>
                  <a:pt x="0" y="116770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803568" y="2695874"/>
            <a:ext cx="8455732" cy="6072753"/>
          </a:xfrm>
          <a:custGeom>
            <a:avLst/>
            <a:gdLst/>
            <a:ahLst/>
            <a:cxnLst/>
            <a:rect l="l" t="t" r="r" b="b"/>
            <a:pathLst>
              <a:path w="8455732" h="6072753">
                <a:moveTo>
                  <a:pt x="0" y="0"/>
                </a:moveTo>
                <a:lnTo>
                  <a:pt x="8455732" y="0"/>
                </a:lnTo>
                <a:lnTo>
                  <a:pt x="8455732" y="6072753"/>
                </a:lnTo>
                <a:lnTo>
                  <a:pt x="0" y="60727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35485" y="660400"/>
            <a:ext cx="6096645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1">
                <a:solidFill>
                  <a:srgbClr val="24508C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TECH STACK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1658" y="1840143"/>
            <a:ext cx="7044233" cy="531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AutoNum type="arabicPeriod"/>
            </a:pPr>
            <a:r>
              <a:rPr lang="en-US" sz="3000" b="1" dirty="0">
                <a:solidFill>
                  <a:srgbClr val="2450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</a:t>
            </a:r>
            <a:r>
              <a:rPr lang="en-US" sz="3000" b="1" dirty="0">
                <a:solidFill>
                  <a:srgbClr val="2450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React</a:t>
            </a:r>
          </a:p>
          <a:p>
            <a:pPr marL="647700" lvl="1" indent="-323850" algn="just">
              <a:lnSpc>
                <a:spcPts val="4200"/>
              </a:lnSpc>
              <a:buAutoNum type="arabicPeriod"/>
            </a:pPr>
            <a:r>
              <a:rPr lang="en-US" sz="3000" b="1" dirty="0">
                <a:solidFill>
                  <a:srgbClr val="2450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Backend</a:t>
            </a:r>
            <a:r>
              <a:rPr lang="en-US" sz="3000" b="1" dirty="0">
                <a:solidFill>
                  <a:srgbClr val="2450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Spring Boot</a:t>
            </a:r>
          </a:p>
          <a:p>
            <a:pPr marL="647700" lvl="1" indent="-323850" algn="just">
              <a:lnSpc>
                <a:spcPts val="4200"/>
              </a:lnSpc>
              <a:buAutoNum type="arabicPeriod"/>
            </a:pPr>
            <a:r>
              <a:rPr lang="en-US" sz="3000" b="1" dirty="0">
                <a:solidFill>
                  <a:srgbClr val="2450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</a:t>
            </a:r>
            <a:r>
              <a:rPr lang="en-US" sz="3000" b="1" dirty="0">
                <a:solidFill>
                  <a:srgbClr val="2450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NoSQL(MongoDB)</a:t>
            </a:r>
          </a:p>
          <a:p>
            <a:pPr marL="647700" lvl="1" indent="-323850" algn="just">
              <a:lnSpc>
                <a:spcPts val="4200"/>
              </a:lnSpc>
              <a:buAutoNum type="arabicPeriod"/>
            </a:pPr>
            <a:r>
              <a:rPr lang="en-US" sz="3000" b="1" dirty="0">
                <a:solidFill>
                  <a:srgbClr val="2450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API</a:t>
            </a:r>
            <a:r>
              <a:rPr lang="en-US" sz="3000" b="1" dirty="0">
                <a:solidFill>
                  <a:srgbClr val="2450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Google Custom Search for Lead generation, Twilio Voice for calling agents, WhatsApp Business API </a:t>
            </a:r>
          </a:p>
          <a:p>
            <a:pPr marL="647700" lvl="1" indent="-323850" algn="just">
              <a:lnSpc>
                <a:spcPts val="4200"/>
              </a:lnSpc>
              <a:buAutoNum type="arabicPeriod"/>
            </a:pPr>
            <a:r>
              <a:rPr lang="en-US" sz="3000" b="1" dirty="0">
                <a:solidFill>
                  <a:srgbClr val="2450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Deployment</a:t>
            </a:r>
            <a:r>
              <a:rPr lang="en-US" sz="3000" b="1" dirty="0">
                <a:solidFill>
                  <a:srgbClr val="2450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Digital Ocean</a:t>
            </a:r>
          </a:p>
          <a:p>
            <a:pPr marL="647700" lvl="1" indent="-323850" algn="just">
              <a:lnSpc>
                <a:spcPts val="4200"/>
              </a:lnSpc>
              <a:buAutoNum type="arabicPeriod"/>
            </a:pPr>
            <a:r>
              <a:rPr lang="en-US" sz="3000" b="1" dirty="0">
                <a:solidFill>
                  <a:srgbClr val="2450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Authentication &amp; Security</a:t>
            </a:r>
            <a:r>
              <a:rPr lang="en-US" sz="3000" b="1" dirty="0">
                <a:solidFill>
                  <a:srgbClr val="2450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JWT + </a:t>
            </a:r>
            <a:r>
              <a:rPr lang="en-US" sz="3000" b="1" dirty="0" err="1">
                <a:solidFill>
                  <a:srgbClr val="2450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Autho</a:t>
            </a:r>
            <a:endParaRPr lang="en-US" sz="3000" b="1" dirty="0">
              <a:solidFill>
                <a:srgbClr val="2450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6464340" y="-2771020"/>
            <a:ext cx="3952120" cy="395212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508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4783807" y="7493868"/>
            <a:ext cx="9567614" cy="956761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508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64369" y="7170135"/>
            <a:ext cx="2088165" cy="208816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403" y="4898838"/>
            <a:ext cx="4900669" cy="4579396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572" y="4975867"/>
            <a:ext cx="4926317" cy="4580805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11420788" y="3000741"/>
            <a:ext cx="11677025" cy="11677025"/>
          </a:xfrm>
          <a:custGeom>
            <a:avLst/>
            <a:gdLst/>
            <a:ahLst/>
            <a:cxnLst/>
            <a:rect l="l" t="t" r="r" b="b"/>
            <a:pathLst>
              <a:path w="11677025" h="11677025">
                <a:moveTo>
                  <a:pt x="0" y="0"/>
                </a:moveTo>
                <a:lnTo>
                  <a:pt x="11677024" y="0"/>
                </a:lnTo>
                <a:lnTo>
                  <a:pt x="11677024" y="11677024"/>
                </a:lnTo>
                <a:lnTo>
                  <a:pt x="0" y="1167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153362" y="4534075"/>
            <a:ext cx="7670567" cy="5752925"/>
          </a:xfrm>
          <a:custGeom>
            <a:avLst/>
            <a:gdLst/>
            <a:ahLst/>
            <a:cxnLst/>
            <a:rect l="l" t="t" r="r" b="b"/>
            <a:pathLst>
              <a:path w="7670567" h="5752925">
                <a:moveTo>
                  <a:pt x="0" y="0"/>
                </a:moveTo>
                <a:lnTo>
                  <a:pt x="7670566" y="0"/>
                </a:lnTo>
                <a:lnTo>
                  <a:pt x="7670566" y="5752925"/>
                </a:lnTo>
                <a:lnTo>
                  <a:pt x="0" y="57529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462073" y="1548330"/>
            <a:ext cx="13898075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1">
                <a:solidFill>
                  <a:srgbClr val="24508C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GET STARTED WITH ENGEGEFLOW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2073" y="2953116"/>
            <a:ext cx="14426730" cy="2948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09"/>
              </a:lnSpc>
            </a:pPr>
            <a:r>
              <a:rPr lang="en-US" sz="2792" b="1">
                <a:solidFill>
                  <a:srgbClr val="2450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Free Trial:</a:t>
            </a:r>
            <a:r>
              <a:rPr lang="en-US" sz="2792" b="1">
                <a:solidFill>
                  <a:srgbClr val="2450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Test with limited leads or duration.</a:t>
            </a:r>
          </a:p>
          <a:p>
            <a:pPr algn="just">
              <a:lnSpc>
                <a:spcPts val="3909"/>
              </a:lnSpc>
            </a:pPr>
            <a:r>
              <a:rPr lang="en-US" sz="2792" b="1">
                <a:solidFill>
                  <a:srgbClr val="2450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Flexible Pricing:</a:t>
            </a:r>
            <a:r>
              <a:rPr lang="en-US" sz="2792" b="1">
                <a:solidFill>
                  <a:srgbClr val="2450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Subscription or pay-per-lead plans.</a:t>
            </a:r>
          </a:p>
          <a:p>
            <a:pPr algn="just">
              <a:lnSpc>
                <a:spcPts val="3909"/>
              </a:lnSpc>
            </a:pPr>
            <a:r>
              <a:rPr lang="en-US" sz="2792" b="1">
                <a:solidFill>
                  <a:srgbClr val="2450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Scalable:</a:t>
            </a:r>
            <a:r>
              <a:rPr lang="en-US" sz="2792" b="1">
                <a:solidFill>
                  <a:srgbClr val="2450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Suitable for small to large organizations.</a:t>
            </a:r>
          </a:p>
          <a:p>
            <a:pPr algn="just">
              <a:lnSpc>
                <a:spcPts val="3909"/>
              </a:lnSpc>
            </a:pPr>
            <a:endParaRPr lang="en-US" sz="2792" b="1">
              <a:solidFill>
                <a:srgbClr val="2450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just">
              <a:lnSpc>
                <a:spcPts val="3909"/>
              </a:lnSpc>
            </a:pPr>
            <a:endParaRPr lang="en-US" sz="2792" b="1">
              <a:solidFill>
                <a:srgbClr val="2450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just">
              <a:lnSpc>
                <a:spcPts val="3909"/>
              </a:lnSpc>
            </a:pPr>
            <a:endParaRPr lang="en-US" sz="2792" b="1">
              <a:solidFill>
                <a:srgbClr val="2450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-1745719" y="9150000"/>
            <a:ext cx="3491438" cy="3122967"/>
            <a:chOff x="0" y="0"/>
            <a:chExt cx="9087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08700" cy="812800"/>
            </a:xfrm>
            <a:custGeom>
              <a:avLst/>
              <a:gdLst/>
              <a:ahLst/>
              <a:cxnLst/>
              <a:rect l="l" t="t" r="r" b="b"/>
              <a:pathLst>
                <a:path w="908700" h="812800">
                  <a:moveTo>
                    <a:pt x="454350" y="0"/>
                  </a:moveTo>
                  <a:cubicBezTo>
                    <a:pt x="203420" y="0"/>
                    <a:pt x="0" y="181951"/>
                    <a:pt x="0" y="406400"/>
                  </a:cubicBezTo>
                  <a:cubicBezTo>
                    <a:pt x="0" y="630849"/>
                    <a:pt x="203420" y="812800"/>
                    <a:pt x="454350" y="812800"/>
                  </a:cubicBezTo>
                  <a:cubicBezTo>
                    <a:pt x="705281" y="812800"/>
                    <a:pt x="908700" y="630849"/>
                    <a:pt x="908700" y="406400"/>
                  </a:cubicBezTo>
                  <a:cubicBezTo>
                    <a:pt x="908700" y="181951"/>
                    <a:pt x="705281" y="0"/>
                    <a:pt x="454350" y="0"/>
                  </a:cubicBezTo>
                  <a:close/>
                </a:path>
              </a:pathLst>
            </a:custGeom>
            <a:solidFill>
              <a:srgbClr val="24508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85191" y="38100"/>
              <a:ext cx="738319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360148" y="-2923420"/>
            <a:ext cx="4903912" cy="490391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508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360148" y="520484"/>
            <a:ext cx="2088165" cy="208816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19398" y="2279949"/>
            <a:ext cx="11677025" cy="11677025"/>
          </a:xfrm>
          <a:custGeom>
            <a:avLst/>
            <a:gdLst/>
            <a:ahLst/>
            <a:cxnLst/>
            <a:rect l="l" t="t" r="r" b="b"/>
            <a:pathLst>
              <a:path w="11677025" h="11677025">
                <a:moveTo>
                  <a:pt x="0" y="0"/>
                </a:moveTo>
                <a:lnTo>
                  <a:pt x="11677024" y="0"/>
                </a:lnTo>
                <a:lnTo>
                  <a:pt x="11677024" y="11677025"/>
                </a:lnTo>
                <a:lnTo>
                  <a:pt x="0" y="116770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896475" y="1305873"/>
            <a:ext cx="6433259" cy="7675255"/>
          </a:xfrm>
          <a:custGeom>
            <a:avLst/>
            <a:gdLst/>
            <a:ahLst/>
            <a:cxnLst/>
            <a:rect l="l" t="t" r="r" b="b"/>
            <a:pathLst>
              <a:path w="6433259" h="7675255">
                <a:moveTo>
                  <a:pt x="0" y="0"/>
                </a:moveTo>
                <a:lnTo>
                  <a:pt x="6433259" y="0"/>
                </a:lnTo>
                <a:lnTo>
                  <a:pt x="6433259" y="7675254"/>
                </a:lnTo>
                <a:lnTo>
                  <a:pt x="0" y="7675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43328" y="263261"/>
            <a:ext cx="7518713" cy="2016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66"/>
              </a:lnSpc>
            </a:pPr>
            <a:r>
              <a:rPr lang="en-US" sz="11761" b="1">
                <a:solidFill>
                  <a:srgbClr val="24508C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171938" y="1675038"/>
            <a:ext cx="5047460" cy="2015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66"/>
              </a:lnSpc>
            </a:pPr>
            <a:r>
              <a:rPr lang="en-US" sz="11761" b="1">
                <a:solidFill>
                  <a:srgbClr val="24508C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126308"/>
            <a:ext cx="6311989" cy="2716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5"/>
              </a:lnSpc>
            </a:pPr>
            <a:r>
              <a:rPr lang="en-US" sz="3061" b="1" dirty="0">
                <a:solidFill>
                  <a:srgbClr val="2450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Name                           Roll. No.</a:t>
            </a:r>
          </a:p>
          <a:p>
            <a:pPr algn="l">
              <a:lnSpc>
                <a:spcPts val="4285"/>
              </a:lnSpc>
            </a:pPr>
            <a:r>
              <a:rPr lang="en-US" sz="3061" b="1" dirty="0">
                <a:solidFill>
                  <a:srgbClr val="2450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Nikita Singh               23-CSE-125</a:t>
            </a:r>
          </a:p>
          <a:p>
            <a:pPr algn="l">
              <a:lnSpc>
                <a:spcPts val="4285"/>
              </a:lnSpc>
            </a:pPr>
            <a:r>
              <a:rPr lang="en-US" sz="3061" b="1" dirty="0">
                <a:solidFill>
                  <a:srgbClr val="2450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Tushar Samaniya      23-CSE-139</a:t>
            </a:r>
          </a:p>
          <a:p>
            <a:pPr algn="l">
              <a:lnSpc>
                <a:spcPts val="4285"/>
              </a:lnSpc>
            </a:pPr>
            <a:r>
              <a:rPr lang="en-US" sz="3061" b="1" dirty="0">
                <a:solidFill>
                  <a:srgbClr val="2450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Ritik Pal                       23-CSE-132</a:t>
            </a:r>
          </a:p>
          <a:p>
            <a:pPr algn="l">
              <a:lnSpc>
                <a:spcPts val="4285"/>
              </a:lnSpc>
            </a:pPr>
            <a:r>
              <a:rPr lang="en-US" sz="3061" b="1" dirty="0">
                <a:solidFill>
                  <a:srgbClr val="2450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Rinku                            23-CSE-131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944302" y="-1976060"/>
            <a:ext cx="3952120" cy="395212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508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4583646" y="8214218"/>
            <a:ext cx="9567614" cy="956761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508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135949" y="8214218"/>
            <a:ext cx="1343160" cy="134316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229</Words>
  <Application>Microsoft Office PowerPoint</Application>
  <PresentationFormat>Custom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Montserrat Ultra-Bold</vt:lpstr>
      <vt:lpstr>Calibri</vt:lpstr>
      <vt:lpstr>Montserrat Bold</vt:lpstr>
      <vt:lpstr>Montserrat</vt:lpstr>
      <vt:lpstr>Montserrat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Illustrative Marketing Plan Presentation</dc:title>
  <cp:lastModifiedBy>Tushar Samaniya</cp:lastModifiedBy>
  <cp:revision>3</cp:revision>
  <dcterms:created xsi:type="dcterms:W3CDTF">2006-08-16T00:00:00Z</dcterms:created>
  <dcterms:modified xsi:type="dcterms:W3CDTF">2025-10-27T18:57:56Z</dcterms:modified>
  <dc:identifier>DAG2_xtCfQ0</dc:identifier>
</cp:coreProperties>
</file>